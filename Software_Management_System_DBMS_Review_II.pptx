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82D4A"/>
                </a:solidFill>
                <a:latin typeface="Aptos Display"/>
              </a:defRPr>
            </a:pPr>
            <a:r>
              <a:rPr sz="3000" b="1"/>
              <a:t>Software Management System</a:t>
            </a:r>
            <a:endParaRPr sz="3000" b="1"/>
          </a:p>
        </p:txBody>
      </p:sp>
      <p:sp>
        <p:nvSpPr>
          <p:cNvPr id="3" name="TextBox 2"/>
          <p:cNvSpPr txBox="1"/>
          <p:nvPr/>
        </p:nvSpPr>
        <p:spPr>
          <a:xfrm>
            <a:off x="1208405" y="217170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75B91"/>
                </a:solidFill>
                <a:latin typeface="Aptos"/>
              </a:defRPr>
            </a:pPr>
            <a:r>
              <a:rPr sz="1800" b="0"/>
              <a:t>Capstone Project – Review II
Database Implementation
Database Management Systems (2501IT05)</a:t>
            </a:r>
            <a:endParaRPr sz="1800" b="0"/>
          </a:p>
        </p:txBody>
      </p:sp>
      <p:sp>
        <p:nvSpPr>
          <p:cNvPr id="4" name="Text Box 3"/>
          <p:cNvSpPr txBox="1"/>
          <p:nvPr/>
        </p:nvSpPr>
        <p:spPr>
          <a:xfrm>
            <a:off x="3274060" y="4069080"/>
            <a:ext cx="606933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300">
                <a:latin typeface="Franklin Gothic Demi" panose="020B0703020102020204" charset="0"/>
                <a:cs typeface="Franklin Gothic Demi" panose="020B0703020102020204" charset="0"/>
              </a:rPr>
              <a:t>M.SRUJANA                    -      25B11AI651</a:t>
            </a:r>
            <a:endParaRPr lang="en-US" sz="2300">
              <a:latin typeface="Franklin Gothic Demi" panose="020B0703020102020204" charset="0"/>
              <a:cs typeface="Franklin Gothic Demi" panose="020B0703020102020204" charset="0"/>
            </a:endParaRPr>
          </a:p>
          <a:p>
            <a:r>
              <a:rPr lang="en-US" sz="2300">
                <a:latin typeface="Franklin Gothic Demi" panose="020B0703020102020204" charset="0"/>
                <a:cs typeface="Franklin Gothic Demi" panose="020B0703020102020204" charset="0"/>
              </a:rPr>
              <a:t>S.BHAVYA TULASI          -      25B11AIA86</a:t>
            </a:r>
            <a:endParaRPr lang="en-US" sz="2300">
              <a:latin typeface="Franklin Gothic Demi" panose="020B0703020102020204" charset="0"/>
              <a:cs typeface="Franklin Gothic Demi" panose="020B0703020102020204" charset="0"/>
            </a:endParaRPr>
          </a:p>
          <a:p>
            <a:r>
              <a:rPr lang="en-US" sz="2300">
                <a:latin typeface="Franklin Gothic Demi" panose="020B0703020102020204" charset="0"/>
                <a:cs typeface="Franklin Gothic Demi" panose="020B0703020102020204" charset="0"/>
              </a:rPr>
              <a:t>T.TEJASRI                        -      25B11AI910</a:t>
            </a:r>
            <a:endParaRPr lang="en-US" sz="2300">
              <a:latin typeface="Franklin Gothic Demi" panose="020B0703020102020204" charset="0"/>
              <a:cs typeface="Franklin Gothic Demi" panose="020B0703020102020204" charset="0"/>
            </a:endParaRPr>
          </a:p>
          <a:p>
            <a:r>
              <a:rPr lang="en-US" sz="2300">
                <a:latin typeface="Franklin Gothic Demi" panose="020B0703020102020204" charset="0"/>
                <a:cs typeface="Franklin Gothic Demi" panose="020B0703020102020204" charset="0"/>
              </a:rPr>
              <a:t>T.SANJANA                      -      25B11AIB85</a:t>
            </a:r>
            <a:endParaRPr lang="en-US" sz="2300">
              <a:latin typeface="Franklin Gothic Demi" panose="020B0703020102020204" charset="0"/>
              <a:cs typeface="Franklin Gothic Demi" panose="020B070302010202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894205" y="3429000"/>
            <a:ext cx="406400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300">
                <a:latin typeface="Franklin Gothic Demi" panose="020B0703020102020204" charset="0"/>
                <a:cs typeface="Franklin Gothic Demi" panose="020B0703020102020204" charset="0"/>
              </a:rPr>
              <a:t>PRESENTED BY :</a:t>
            </a:r>
            <a:r>
              <a:rPr lang="en-US">
                <a:latin typeface="Franklin Gothic Demi" panose="020B0703020102020204" charset="0"/>
                <a:cs typeface="Franklin Gothic Demi" panose="020B0703020102020204" charset="0"/>
              </a:rPr>
              <a:t> </a:t>
            </a:r>
            <a:endParaRPr lang="en-US">
              <a:latin typeface="Franklin Gothic Demi" panose="020B0703020102020204" charset="0"/>
              <a:cs typeface="Franklin Gothic Demi" panose="020B07030201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1. Project Overview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55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Centralized relational database for managing software resources in an organization.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Core entities: Department, Users, Software, License, Installation, and Maintenance.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Supports software allocation, license tracking, installation records, and maintenance management.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Designed to reduce data redundancy, maintain integrity, and support efficient SQL retrieval.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2. Existing System and Proposed System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716280">
                <a:tc>
                  <a:txBody>
                    <a:bodyPr/>
                    <a:lstStyle/>
                    <a:p>
                      <a:r>
                        <a:rPr sz="1800"/>
                        <a:t>Existing System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Proposed Database System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/>
                        <a:t>Manual software records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Centralized relational database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/>
                        <a:t>Separate Excel/files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Related tables with defined relationships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/>
                        <a:t>Duplicate/inconsistent details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Keys and constraints for integrity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/>
                        <a:t>Time-consuming searches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SQL queries and reporting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/>
                        <a:t>Difficult license tracking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License and installation tracking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3. Functional Requirements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8792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Department Management – store and maintain department information.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User Management – add, update, search, and display user details.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Software Management – maintain software name, version, category, and status.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License Management – store license type, key, purchase and expiry details.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Installation Management – record software installations for users and systems.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Maintenance Management – maintain maintenance date, type, description, and cost.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Search and Reporting – retrieve useful information using SQL queries.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4. Database Schema Used for Implementation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61702">
                <a:tc>
                  <a:txBody>
                    <a:bodyPr/>
                    <a:lstStyle/>
                    <a:p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Primary Key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Foreign Keys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800"/>
                        <a:t>Department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Department_ID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—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800"/>
                        <a:t>Users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User_ID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Department_ID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800"/>
                        <a:t>Software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Software_ID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ym typeface="+mn-ea"/>
                        </a:rPr>
                        <a:t>Department_ID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800"/>
                        <a:t>License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License_ID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Software_ID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800"/>
                        <a:t>Installation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Installation_ID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User_ID, Software_ID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800"/>
                        <a:t>Maintenance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Maintenance_ID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Software_ID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5. Table Design and Constraints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40080">
                <a:tc>
                  <a:txBody>
                    <a:bodyPr/>
                    <a:lstStyle/>
                    <a:p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Key / Validation Rules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/>
                        <a:t>Department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PK Department_ID; NOT NULL Department_Name; UNIQUE Department_Code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/>
                        <a:t>Users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PK User_ID; UNIQUE Email; FK Department_ID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/>
                        <a:t>Software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PK Software_ID; NOT NULL Software_Name; Version and Status fields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/>
                        <a:t>License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PK License_ID; FK Software_ID; NOT NULL License_Type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/>
                        <a:t>Installation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PK Installation_ID; FKs User_ID and Software_ID; NOT NULL Installation_Date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00"/>
                        <a:t>Maintenance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PK Maintenance_ID; FK Software_ID; NOT NULL Maintenance_Date; Cost validation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6. Normalization up to 3NF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01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UNF: software, user, department, license, installation, and maintenance details may be mixed in one record.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1NF: repeating groups are removed and attributes contain atomic values.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2NF: partial dependencies are removed by separating software, user, license, and transaction information.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3NF: transitive dependencies are removed; department and software-related details are stored in separate relations.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Final relations: Department, Users, Software, License, Installation, and Maintenance.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7. SQL Implementation – DDL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05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Create the Software Management System database/schema in MySQL.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Create all six project tables.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Define Primary Keys and Foreign Keys.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Apply NOT NULL and UNIQUE constraints where required.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Use ALTER TABLE when table definitions need modification.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Verify table creation using DESCRIBE and SHOW TABLES.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8. SQL Implementation – DML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630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INSERT sample records into Department, Users, Software, License, Installation, and Maintenance.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Insert parent records before child records to satisfy foreign-key constraints.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UPDATE software, user, license, or maintenance details to demonstrate modification.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DELETE eligible records while respecting referential dependencies.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Use realistic sample data for meaningful project queries.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9. DQL – Data Retrieval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715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b="0"/>
              <a:t>SELECT records from project tables.
</a:t>
            </a:r>
            <a:endParaRPr b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b="0"/>
              <a:t>Filter using WHERE conditions.
</a:t>
            </a:r>
            <a:endParaRPr b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b="0"/>
              <a:t>Sort using ORDER BY.
</a:t>
            </a:r>
            <a:endParaRPr b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b="0"/>
              <a:t>Use DISTINCT and LIKE where relevant.
</a:t>
            </a:r>
            <a:endParaRPr b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b="0"/>
              <a:t>Retrieve only required columns.
</a:t>
            </a:r>
            <a:endParaRPr b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b="0"/>
              <a:t>Frame queries as meaningful software-management questions.</a:t>
            </a:r>
            <a:endParaRPr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10. SQL Queries – Joins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36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Department–Users: display users with their department names.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Software–License: display software with license details.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Users–Installation: display installed software for each user.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Software–Installation: display software installation records and system names.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Software–Maintenance: display maintenance history with software details.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Multi-table query: combine Users, Installation, Software, and License for complete software usage information.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11. SQL Queries – Aggregate Functions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784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COUNT() – count users, software, installations, or maintenance records.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AVG() – calculate average maintenance cost where applicable.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MAX() – find maximum maintenance cost.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MIN() – find minimum maintenance cost.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SUM() – calculate total maintenance cost.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GROUP BY – generate department, software, or category summaries.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HAVING – filter grouped results.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12. CRUD Operations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103327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66928">
                <a:tc>
                  <a:txBody>
                    <a:bodyPr/>
                    <a:lstStyle/>
                    <a:p>
                      <a:r>
                        <a:rPr sz="1300"/>
                        <a:t>Operation</a:t>
                      </a:r>
                      <a:endParaRPr sz="1300"/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SQL</a:t>
                      </a:r>
                      <a:endParaRPr sz="1300"/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Project Example</a:t>
                      </a:r>
                      <a:endParaRPr sz="1300"/>
                    </a:p>
                  </a:txBody>
                  <a:tcPr>
                    <a:solidFill>
                      <a:srgbClr val="182D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/>
                        <a:t>Create</a:t>
                      </a:r>
                      <a:endParaRPr sz="13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INSERT</a:t>
                      </a:r>
                      <a:endParaRPr sz="13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Add a new software/user record</a:t>
                      </a:r>
                      <a:endParaRPr sz="13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/>
                        <a:t>Read</a:t>
                      </a:r>
                      <a:endParaRPr sz="13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SELECT</a:t>
                      </a:r>
                      <a:endParaRPr sz="13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Retrieve software and installation details</a:t>
                      </a:r>
                      <a:endParaRPr sz="13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/>
                        <a:t>Update</a:t>
                      </a:r>
                      <a:endParaRPr sz="13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UPDATE</a:t>
                      </a:r>
                      <a:endParaRPr sz="13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Modify software or license information</a:t>
                      </a:r>
                      <a:endParaRPr sz="13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/>
                        <a:t>Delete</a:t>
                      </a:r>
                      <a:endParaRPr sz="13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DELETE</a:t>
                      </a:r>
                      <a:endParaRPr sz="13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Delete an eligible maintenance/installation record</a:t>
                      </a:r>
                      <a:endParaRPr sz="13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111125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1400" b="0"/>
              <a:t>Demonstrate each operation using the actual Software Management System database and show the output.</a:t>
            </a:r>
            <a:endParaRPr sz="1400" b="0"/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13. Views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Create a view for frequently required software-management information.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Example: User name + Department name + Installed Software.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Example: Software name + License type + Expiry date.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Retrieve data from the view using SELECT.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Views simplify repeated queries and improve reporting.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14. Data Integrity and Validation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27017">
                <a:tc>
                  <a:txBody>
                    <a:bodyPr/>
                    <a:lstStyle/>
                    <a:p>
                      <a:r>
                        <a:rPr sz="1800"/>
                        <a:t>Validation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How it is maintained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800"/>
                        <a:t>Entity integrity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Primary keys prevent duplicate / NULL identifiers.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800"/>
                        <a:t>Referential integrity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Foreign keys prevent invalid department, user, or software references.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800"/>
                        <a:t>Uniqueness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UNIQUE for department codes and user emails where applicable.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800"/>
                        <a:t>Mandatory fields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NOT NULL for required attributes.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800"/>
                        <a:t>Domain validation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Valid dates and non-negative maintenance cost values.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800"/>
                        <a:t>Business validation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License, installation, and maintenance status follows project rules.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15. SQL Output and Screenshots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36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Show database and table creation screenshots from MySQL Workbench.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Show sample records inserted into each project table.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Show important DDL, DML, and DQL outputs.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Include screenshots for joins, aggregate queries, CRUD operations, and views.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Show validation/error results such as duplicate ID or invalid foreign-key value.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Replace documentation placeholders with actual project screenshots before final presentation.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16. Query Coverage for Demonstration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18160">
                <a:tc>
                  <a:txBody>
                    <a:bodyPr/>
                    <a:lstStyle/>
                    <a:p>
                      <a:r>
                        <a:rPr sz="2000"/>
                        <a:t>Category</a:t>
                      </a:r>
                      <a:endParaRPr sz="2000"/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Demonstration</a:t>
                      </a:r>
                      <a:endParaRPr sz="2000"/>
                    </a:p>
                  </a:txBody>
                  <a:tcPr>
                    <a:solidFill>
                      <a:srgbClr val="182D4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000"/>
                        <a:t>Basic SELECT</a:t>
                      </a: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3–5 queries</a:t>
                      </a: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000"/>
                        <a:t>Filtering / Sorting</a:t>
                      </a:r>
                      <a:endParaRPr sz="20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3–5 queries</a:t>
                      </a:r>
                      <a:endParaRPr sz="20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000"/>
                        <a:t>Joins</a:t>
                      </a: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5+ meaningful joins / multi-table queries</a:t>
                      </a: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000"/>
                        <a:t>Aggregation</a:t>
                      </a:r>
                      <a:endParaRPr sz="20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5+ COUNT, AVG, MIN, MAX, SUM queries</a:t>
                      </a:r>
                      <a:endParaRPr sz="20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000"/>
                        <a:t>GROUP BY / HAVING</a:t>
                      </a: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2–3 queries</a:t>
                      </a: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000"/>
                        <a:t>CRUD</a:t>
                      </a:r>
                      <a:endParaRPr sz="20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At least one example for each operation</a:t>
                      </a:r>
                      <a:endParaRPr sz="20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000"/>
                        <a:t>Views</a:t>
                      </a: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1–2 meaningful views</a:t>
                      </a:r>
                      <a:endParaRPr sz="20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000"/>
                        <a:t>Validation</a:t>
                      </a:r>
                      <a:endParaRPr sz="20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At least 2 constraint demonstrations</a:t>
                      </a:r>
                      <a:endParaRPr sz="20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000" b="1"/>
              <a:t>17. Live Database Demonstration – Recommended Order</a:t>
            </a:r>
            <a:endParaRPr sz="20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20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1. Open the Software Management System database/schema.</a:t>
            </a:r>
            <a:endParaRPr sz="2000" b="0"/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2. Show the six tables and their relationships.</a:t>
            </a:r>
            <a:endParaRPr sz="2000" b="0"/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3. Show table structures and constraints.</a:t>
            </a:r>
            <a:endParaRPr sz="2000" b="0"/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4. Display inserted sample data.</a:t>
            </a:r>
            <a:endParaRPr sz="2000" b="0"/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5. Demonstrate DDL, DML, and DQL.</a:t>
            </a:r>
            <a:endParaRPr sz="2000" b="0"/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6. Demonstrate CRUD operations.</a:t>
            </a:r>
            <a:endParaRPr sz="2000" b="0"/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7. Run joins and aggregate queries.</a:t>
            </a:r>
            <a:endParaRPr sz="2000" b="0"/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8. Demonstrate a view.</a:t>
            </a:r>
            <a:endParaRPr sz="2000" b="0"/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9. Demonstrate validation / integrity.</a:t>
            </a:r>
            <a:endParaRPr sz="2000" b="0"/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10. Explain normalization up to 3NF and answer questions.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18. Conclusion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554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The implemented database follows the design developed in Review–I.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The six related tables organize departments, users, software, licenses, installations, and maintenance records.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Primary/foreign keys and normalization up to 3NF support integrity and reduce redundancy.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SQL operations demonstrate creation, modification, retrieval, CRUD, joins, aggregation, and views.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The system provides a reliable database foundation for future software-management features.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19. Future Enhancements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05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Role-based access for administrators and authorized users.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Automated license expiry alerts and notifications.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Software usage and installation analytics dashboard.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Advanced maintenance scheduling and cost reports.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Backup, recovery, audit logging, and stronger database security.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b="0"/>
              <a:t>Web or mobile application interface for easier access.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20. References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59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Korth, H. F., Silberschatz, A., and Sudarshan, S., Database System Concepts, McGraw Hill.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Elmasri, R. and Navathe, S. B., Fundamentals of Database Systems, Pearson.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MySQL documentation and course laboratory materials.
</a:t>
            </a:r>
            <a:endParaRPr sz="2000" b="0"/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b="0"/>
              <a:t>Project database design, SQL scripts, and MySQL Workbench implementation.</a:t>
            </a:r>
            <a:endParaRPr sz="2000" b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sz="2200" b="1"/>
              <a:t>21. Final Review Checklist</a:t>
            </a:r>
            <a:endParaRPr sz="2200" b="1"/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26720">
                <a:tc>
                  <a:txBody>
                    <a:bodyPr/>
                    <a:lstStyle/>
                    <a:p>
                      <a:r>
                        <a:rPr sz="1800"/>
                        <a:t>Review Area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What students must demonstrate</a:t>
                      </a:r>
                      <a:endParaRPr sz="1800"/>
                    </a:p>
                  </a:txBody>
                  <a:tcPr>
                    <a:solidFill>
                      <a:srgbClr val="182D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Database design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Title, problem, objectives, ER diagram, relational schema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Implementation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Database and all six project tables created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Constraints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PK, FK, NOT NULL, UNIQUE and validation rules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Sample data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All tables populated with valid records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SQL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DDL, DML, DQL demonstrated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CRUD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Create, Read, Update, Delete demonstrated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Queries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Joins, aggregates, GROUP BY / HAVING, views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Normalization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UNF → 1NF → 2NF → 3NF explained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Integrity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Duplicate IDs and invalid references tested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Documentation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ER diagram, schema, SQL, outputs and screenshots</a:t>
                      </a:r>
                      <a:endParaRPr sz="1800"/>
                    </a:p>
                  </a:txBody>
                  <a:tcPr>
                    <a:solidFill>
                      <a:srgbClr val="EF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800"/>
                        <a:t>Presentation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Working database demonstrated live</a:t>
                      </a:r>
                      <a:endParaRPr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8838</Words>
  <Application>WPS Presentation</Application>
  <PresentationFormat>On-screen Show (4:3)</PresentationFormat>
  <Paragraphs>432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Segoe UI</vt:lpstr>
      <vt:lpstr>Microsoft YaHei</vt:lpstr>
      <vt:lpstr>Arial Unicode MS</vt:lpstr>
      <vt:lpstr>Calibri</vt:lpstr>
      <vt:lpstr>Times New Roman</vt:lpstr>
      <vt:lpstr>Calibri Light</vt:lpstr>
      <vt:lpstr>Calisto MT</vt:lpstr>
      <vt:lpstr>Cambria Math</vt:lpstr>
      <vt:lpstr>Cambria</vt:lpstr>
      <vt:lpstr>Cascadia Code</vt:lpstr>
      <vt:lpstr>Candara Light</vt:lpstr>
      <vt:lpstr>Franklin Gothic Demi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Bhavyatulasi Seeram</cp:lastModifiedBy>
  <cp:revision>2</cp:revision>
  <dcterms:created xsi:type="dcterms:W3CDTF">2013-01-27T09:14:00Z</dcterms:created>
  <dcterms:modified xsi:type="dcterms:W3CDTF">2026-10-08T08:44:29Z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9FACC4848E754AA3A1D8CAA0B266E888_12</vt:lpwstr>
  </property>
</Properties>
</file>