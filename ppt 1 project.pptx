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-822960"/>
            <a:ext cx="2834640" cy="28346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5029200"/>
            <a:ext cx="2103120" cy="21031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212080"/>
            <a:ext cx="1828800" cy="18288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2743200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6B6D4"/>
                </a:solidFill>
                <a:latin typeface="Aptos"/>
              </a:rPr>
              <a:t>D</a:t>
            </a:r>
            <a:r>
              <a:rPr lang="en-US" sz="1200" b="1">
                <a:solidFill>
                  <a:srgbClr val="06B6D4"/>
                </a:solidFill>
                <a:latin typeface="Aptos"/>
              </a:rPr>
              <a:t>BMS</a:t>
            </a:r>
            <a:r>
              <a:rPr sz="1200" b="1">
                <a:solidFill>
                  <a:srgbClr val="06B6D4"/>
                </a:solidFill>
                <a:latin typeface="Aptos"/>
              </a:rPr>
              <a:t> • PROJECT</a:t>
            </a:r>
            <a:endParaRPr sz="1200" b="1">
              <a:solidFill>
                <a:srgbClr val="06B6D4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713232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8FAFC"/>
                </a:solidFill>
                <a:latin typeface="Aptos"/>
              </a:rPr>
              <a:t>SOFTWARE
MANAGEMENT
SYSTEM</a:t>
            </a:r>
            <a:endParaRPr sz="38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3977639"/>
            <a:ext cx="6400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Aptos"/>
              </a:rPr>
              <a:t>Database design for organized software tracking, licensing, installation and maintenance.</a:t>
            </a:r>
            <a:endParaRPr sz="1500" b="0">
              <a:solidFill>
                <a:srgbClr val="E2E8F0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909560" y="1417320"/>
            <a:ext cx="3383280" cy="3886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73736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Aptos"/>
              </a:rPr>
              <a:t>TEAM MEMBERS</a:t>
            </a:r>
            <a:endParaRPr sz="1100" b="1">
              <a:solidFill>
                <a:srgbClr val="06B6D4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0" y="2331720"/>
            <a:ext cx="2697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8FAFC"/>
                </a:solidFill>
                <a:latin typeface="Aptos"/>
              </a:rPr>
              <a:t>25B11AI651  M.SRUJANA</a:t>
            </a:r>
            <a:endParaRPr sz="115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0" y="2898648"/>
            <a:ext cx="2697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25B11AIA86  S.BHAVYA TULASI</a:t>
            </a:r>
            <a:endParaRPr sz="1150" b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0" y="3465576"/>
            <a:ext cx="2697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25B11AI910  T.TEJA SRI</a:t>
            </a:r>
            <a:endParaRPr sz="1150" b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0" y="4032504"/>
            <a:ext cx="2697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25B11AIB85  SANJANA</a:t>
            </a:r>
            <a:endParaRPr sz="1150" b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59893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Aptos"/>
              </a:rPr>
              <a:t>Batch 10  •  Academic Year 2026–2027</a:t>
            </a:r>
            <a:endParaRPr sz="1000" b="0">
              <a:solidFill>
                <a:srgbClr val="94A3B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  <a:latin typeface="Aptos"/>
              </a:rPr>
              <a:t>02</a:t>
            </a:r>
            <a:endParaRPr sz="1300" b="1">
              <a:solidFill>
                <a:srgbClr val="06B6D4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34440" y="329184"/>
            <a:ext cx="9966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Outline</a:t>
            </a:r>
            <a:endParaRPr sz="28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52728" y="941832"/>
            <a:ext cx="9784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A quick view of the project journey</a:t>
            </a:r>
            <a:endParaRPr sz="1150" b="0">
              <a:solidFill>
                <a:srgbClr val="94A3B8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228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66360" cy="65836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64008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675" y="1847215"/>
            <a:ext cx="4251325" cy="4140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Introduction</a:t>
            </a:r>
            <a:endParaRPr sz="13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0120" y="2139696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 sz="1150" b="0">
              <a:solidFill>
                <a:srgbClr val="E2E8F0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60120" y="182880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ptos"/>
              </a:rPr>
              <a:t>01</a:t>
            </a:r>
            <a:endParaRPr sz="1000" b="1">
              <a:solidFill>
                <a:srgbClr val="06B6D4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166360" cy="65836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645920"/>
            <a:ext cx="64008" cy="65836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1847215"/>
            <a:ext cx="4343400" cy="3479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Problem Statement</a:t>
            </a:r>
            <a:endParaRPr sz="13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46520" y="2139696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 sz="1150" b="0">
              <a:solidFill>
                <a:srgbClr val="E2E8F0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46520" y="182880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ptos"/>
              </a:rPr>
              <a:t>02</a:t>
            </a:r>
            <a:endParaRPr sz="1000" b="1">
              <a:solidFill>
                <a:srgbClr val="06B6D4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31520" y="2496312"/>
            <a:ext cx="5166360" cy="65836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2496312"/>
            <a:ext cx="64008" cy="65836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31290" y="2697480"/>
            <a:ext cx="4283710" cy="3733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Objectives</a:t>
            </a:r>
            <a:endParaRPr sz="13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60120" y="2990088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 sz="1150" b="0">
              <a:solidFill>
                <a:srgbClr val="E2E8F0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60120" y="267919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ptos"/>
              </a:rPr>
              <a:t>03</a:t>
            </a:r>
            <a:endParaRPr sz="1000" b="1">
              <a:solidFill>
                <a:srgbClr val="06B6D4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217920" y="2496312"/>
            <a:ext cx="5166360" cy="65836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496312"/>
            <a:ext cx="64008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2697480"/>
            <a:ext cx="4343400" cy="21018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System Scope</a:t>
            </a:r>
            <a:endParaRPr sz="13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46520" y="2990088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 sz="1150" b="0">
              <a:solidFill>
                <a:srgbClr val="E2E8F0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46520" y="267919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ptos"/>
              </a:rPr>
              <a:t>04</a:t>
            </a:r>
            <a:endParaRPr sz="1000" b="1">
              <a:solidFill>
                <a:srgbClr val="06B6D4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31520" y="3346704"/>
            <a:ext cx="5166360" cy="65836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3346704"/>
            <a:ext cx="64008" cy="65836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86840" y="3547745"/>
            <a:ext cx="4328160" cy="345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Entities &amp; Attributes</a:t>
            </a:r>
            <a:endParaRPr sz="13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60120" y="3840480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 sz="1150" b="0">
              <a:solidFill>
                <a:srgbClr val="E2E8F0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60120" y="3529584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ptos"/>
              </a:rPr>
              <a:t>05</a:t>
            </a:r>
            <a:endParaRPr sz="1000" b="1">
              <a:solidFill>
                <a:srgbClr val="06B6D4"/>
              </a:solidFill>
              <a:latin typeface="Apto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217920" y="3346704"/>
            <a:ext cx="5166360" cy="65836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3346704"/>
            <a:ext cx="64008" cy="65836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3547745"/>
            <a:ext cx="4343400" cy="34480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Relationships &amp; Cardinality</a:t>
            </a:r>
            <a:endParaRPr sz="13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446520" y="3840480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 sz="1150" b="0">
              <a:solidFill>
                <a:srgbClr val="E2E8F0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46520" y="3529584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ptos"/>
              </a:rPr>
              <a:t>06</a:t>
            </a:r>
            <a:endParaRPr sz="1000" b="1">
              <a:solidFill>
                <a:srgbClr val="06B6D4"/>
              </a:solidFill>
              <a:latin typeface="Aptos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31520" y="4197096"/>
            <a:ext cx="5166360" cy="65836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4197096"/>
            <a:ext cx="64008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63040" y="4398010"/>
            <a:ext cx="4251960" cy="3841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Relational Schema</a:t>
            </a:r>
            <a:endParaRPr sz="13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60120" y="4690872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 sz="1150" b="0">
              <a:solidFill>
                <a:srgbClr val="E2E8F0"/>
              </a:solidFill>
              <a:latin typeface="Apto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60120" y="4379976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ptos"/>
              </a:rPr>
              <a:t>07</a:t>
            </a:r>
            <a:endParaRPr sz="1000" b="1">
              <a:solidFill>
                <a:srgbClr val="06B6D4"/>
              </a:solidFill>
              <a:latin typeface="Aptos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6217920" y="4197096"/>
            <a:ext cx="5166360" cy="65836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7920" y="4197096"/>
            <a:ext cx="64008" cy="65836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0" y="4398010"/>
            <a:ext cx="4343400" cy="33718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ER Diagram</a:t>
            </a:r>
            <a:endParaRPr sz="13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446520" y="4690872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 sz="1150" b="0">
              <a:solidFill>
                <a:srgbClr val="E2E8F0"/>
              </a:solidFill>
              <a:latin typeface="Apto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446520" y="4379976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ptos"/>
              </a:rPr>
              <a:t>08</a:t>
            </a:r>
            <a:endParaRPr sz="1000" b="1">
              <a:solidFill>
                <a:srgbClr val="06B6D4"/>
              </a:solidFill>
              <a:latin typeface="Aptos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731520" y="5047488"/>
            <a:ext cx="5166360" cy="65836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31520" y="5047488"/>
            <a:ext cx="64008" cy="65836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463040" y="5248910"/>
            <a:ext cx="4251960" cy="37719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Team Responsibilities</a:t>
            </a:r>
            <a:endParaRPr sz="13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60120" y="5541264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 sz="1150" b="0">
              <a:solidFill>
                <a:srgbClr val="E2E8F0"/>
              </a:solidFill>
              <a:latin typeface="Apto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60120" y="523036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ptos"/>
              </a:rPr>
              <a:t>09</a:t>
            </a:r>
            <a:endParaRPr sz="1000" b="1">
              <a:solidFill>
                <a:srgbClr val="06B6D4"/>
              </a:solidFill>
              <a:latin typeface="Aptos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6217920" y="5047488"/>
            <a:ext cx="5166360" cy="65836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17920" y="5047488"/>
            <a:ext cx="64008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21170" y="5248910"/>
            <a:ext cx="4380230" cy="2095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Conclusion</a:t>
            </a:r>
            <a:endParaRPr sz="13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446520" y="5541264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 sz="1150" b="0">
              <a:solidFill>
                <a:srgbClr val="E2E8F0"/>
              </a:solidFill>
              <a:latin typeface="Aptos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446520" y="523036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ptos"/>
              </a:rPr>
              <a:t>10</a:t>
            </a:r>
            <a:endParaRPr sz="1000" b="1">
              <a:solidFill>
                <a:srgbClr val="06B6D4"/>
              </a:solidFill>
              <a:latin typeface="Apto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94360" y="6510528"/>
            <a:ext cx="6400800" cy="2216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94A3B8"/>
                </a:solidFill>
                <a:latin typeface="Aptos"/>
              </a:rPr>
              <a:t>SOFTWARE MANAGEMENT SYSTEM  •  </a:t>
            </a:r>
            <a:r>
              <a:rPr lang="en-US" sz="850" b="1">
                <a:solidFill>
                  <a:srgbClr val="94A3B8"/>
                </a:solidFill>
                <a:latin typeface="Aptos"/>
              </a:rPr>
              <a:t>DBMS</a:t>
            </a:r>
            <a:endParaRPr lang="en-US" sz="850" b="1">
              <a:solidFill>
                <a:srgbClr val="94A3B8"/>
              </a:solidFill>
              <a:latin typeface="Apto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2</a:t>
            </a:r>
            <a:endParaRPr sz="900" b="1">
              <a:solidFill>
                <a:srgbClr val="94A3B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  <a:latin typeface="Aptos"/>
              </a:rPr>
              <a:t>03</a:t>
            </a:r>
            <a:endParaRPr sz="1300" b="1">
              <a:solidFill>
                <a:srgbClr val="06B6D4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34440" y="329184"/>
            <a:ext cx="9966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Introduction</a:t>
            </a:r>
            <a:endParaRPr sz="28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52728" y="941832"/>
            <a:ext cx="9784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Why a software management database is useful</a:t>
            </a:r>
            <a:endParaRPr sz="1150" b="0">
              <a:solidFill>
                <a:srgbClr val="94A3B8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228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29000" cy="4069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64008" cy="40690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47088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THE CHALLENGE</a:t>
            </a:r>
            <a:endParaRPr sz="17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0120" y="2304288"/>
            <a:ext cx="301752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Aptos"/>
              </a:rPr>
              <a:t>Software records grow quickly across an organization. Manual tracking makes it difficult to know what is installed, licensed, assigned and maintained.</a:t>
            </a:r>
            <a:endParaRPr sz="1300" b="0">
              <a:solidFill>
                <a:srgbClr val="E2E8F0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29000" cy="4069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64008" cy="4069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847088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THE SOLUTION</a:t>
            </a:r>
            <a:endParaRPr sz="17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17720" y="2304288"/>
            <a:ext cx="301752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Aptos"/>
              </a:rPr>
              <a:t>A structured Software Management System stores software names, versions, licenses, users, departments, installations and maintenance records in one database.</a:t>
            </a:r>
            <a:endParaRPr sz="1300" b="0">
              <a:solidFill>
                <a:srgbClr val="E2E8F0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429000" cy="4069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64008" cy="40690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847088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PROJECT FOCUS</a:t>
            </a:r>
            <a:endParaRPr sz="17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75320" y="2304288"/>
            <a:ext cx="301752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Aptos"/>
              </a:rPr>
              <a:t>This DAE Review–I project focuses on database design: entities, attributes, relationships, ER modelling and the relational schema.</a:t>
            </a:r>
            <a:endParaRPr sz="1300" b="0">
              <a:solidFill>
                <a:srgbClr val="E2E8F0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6400800" cy="2216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94A3B8"/>
                </a:solidFill>
                <a:latin typeface="Aptos"/>
              </a:rPr>
              <a:t>SOFTWARE MANAGEMENT SYSTEM  •  D</a:t>
            </a:r>
            <a:r>
              <a:rPr lang="en-US" sz="850" b="1">
                <a:solidFill>
                  <a:srgbClr val="94A3B8"/>
                </a:solidFill>
                <a:latin typeface="Aptos"/>
              </a:rPr>
              <a:t>BMS</a:t>
            </a:r>
            <a:endParaRPr lang="en-US" sz="850" b="1">
              <a:solidFill>
                <a:srgbClr val="94A3B8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3</a:t>
            </a:r>
            <a:endParaRPr sz="900" b="1">
              <a:solidFill>
                <a:srgbClr val="94A3B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  <a:latin typeface="Aptos"/>
              </a:rPr>
              <a:t>04</a:t>
            </a:r>
            <a:endParaRPr sz="1300" b="1">
              <a:solidFill>
                <a:srgbClr val="06B6D4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34440" y="329184"/>
            <a:ext cx="9966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Problem Statement</a:t>
            </a:r>
            <a:endParaRPr sz="28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52728" y="941832"/>
            <a:ext cx="9784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The gaps this system is designed to solve</a:t>
            </a:r>
            <a:endParaRPr sz="1150" b="0">
              <a:solidFill>
                <a:srgbClr val="94A3B8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228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429000" cy="1874519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64008" cy="1874519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01368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DUPLICATE DATA</a:t>
            </a:r>
            <a:endParaRPr sz="14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0120" y="2258568"/>
            <a:ext cx="30175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Aptos"/>
              </a:rPr>
              <a:t>Separate records can create repeated or inconsistent information.</a:t>
            </a:r>
            <a:endParaRPr sz="1050" b="0">
              <a:solidFill>
                <a:srgbClr val="E2E8F0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480559" y="1600200"/>
            <a:ext cx="3429000" cy="1874519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1600200"/>
            <a:ext cx="64008" cy="187451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59" y="1801368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LICENSE TRACKING</a:t>
            </a:r>
            <a:endParaRPr sz="14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09159" y="2258568"/>
            <a:ext cx="30175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Aptos"/>
              </a:rPr>
              <a:t>Expired or insufficient software licenses may be difficult to identify.</a:t>
            </a:r>
            <a:endParaRPr sz="1050" b="0">
              <a:solidFill>
                <a:srgbClr val="E2E8F0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229600" y="1600200"/>
            <a:ext cx="3429000" cy="1874519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600200"/>
            <a:ext cx="64008" cy="1874519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801368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INSTALLATION VISIBILITY</a:t>
            </a:r>
            <a:endParaRPr sz="14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458200" y="2258568"/>
            <a:ext cx="30175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Aptos"/>
              </a:rPr>
              <a:t>It can be difficult to know which user has which software installed.</a:t>
            </a:r>
            <a:endParaRPr sz="1050" b="0">
              <a:solidFill>
                <a:srgbClr val="E2E8F0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31520" y="3840480"/>
            <a:ext cx="3429000" cy="1874519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840480"/>
            <a:ext cx="64008" cy="1874519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041648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MAINTENANCE</a:t>
            </a:r>
            <a:endParaRPr sz="14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60120" y="4498848"/>
            <a:ext cx="30175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Aptos"/>
              </a:rPr>
              <a:t>Updates and maintenance activities need a reliable history.</a:t>
            </a:r>
            <a:endParaRPr sz="1050" b="0">
              <a:solidFill>
                <a:srgbClr val="E2E8F0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480559" y="3840480"/>
            <a:ext cx="3429000" cy="1874519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59" y="3840480"/>
            <a:ext cx="64008" cy="187451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59" y="4041648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SLOW RETRIEVAL</a:t>
            </a:r>
            <a:endParaRPr sz="14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709159" y="4498848"/>
            <a:ext cx="30175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Aptos"/>
              </a:rPr>
              <a:t>Searching across separate records takes more time.</a:t>
            </a:r>
            <a:endParaRPr sz="1050" b="0">
              <a:solidFill>
                <a:srgbClr val="E2E8F0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229600" y="3840480"/>
            <a:ext cx="3429000" cy="1874519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840480"/>
            <a:ext cx="64008" cy="1874519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4041648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DATABASE NEED</a:t>
            </a:r>
            <a:endParaRPr sz="14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458200" y="4498848"/>
            <a:ext cx="30175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Aptos"/>
              </a:rPr>
              <a:t>A connected relational model provides consistent and organized information.</a:t>
            </a:r>
            <a:endParaRPr sz="1050" b="0">
              <a:solidFill>
                <a:srgbClr val="E2E8F0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6400800" cy="2216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94A3B8"/>
                </a:solidFill>
                <a:latin typeface="Aptos"/>
              </a:rPr>
              <a:t>SOFTWARE MANAGEMENT SYSTEM  •  D</a:t>
            </a:r>
            <a:r>
              <a:rPr lang="en-US" sz="850" b="1">
                <a:solidFill>
                  <a:srgbClr val="94A3B8"/>
                </a:solidFill>
                <a:latin typeface="Aptos"/>
              </a:rPr>
              <a:t>BMS</a:t>
            </a:r>
            <a:endParaRPr lang="en-US" sz="850" b="1">
              <a:solidFill>
                <a:srgbClr val="94A3B8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4</a:t>
            </a:r>
            <a:endParaRPr sz="900" b="1">
              <a:solidFill>
                <a:srgbClr val="94A3B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  <a:latin typeface="Aptos"/>
              </a:rPr>
              <a:t>05</a:t>
            </a:r>
            <a:endParaRPr sz="1300" b="1">
              <a:solidFill>
                <a:srgbClr val="06B6D4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34440" y="329184"/>
            <a:ext cx="9966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Objectives</a:t>
            </a:r>
            <a:endParaRPr sz="28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52728" y="941832"/>
            <a:ext cx="9784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What the project aims to achieve</a:t>
            </a:r>
            <a:endParaRPr sz="1150" b="0">
              <a:solidFill>
                <a:srgbClr val="94A3B8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228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241280" cy="3476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"/>
              </a:spcAft>
              <a:buFont typeface="Wingdings" panose="05000000000000000000" charset="0"/>
              <a:buChar char="ü"/>
              <a:defRPr sz="1600">
                <a:solidFill>
                  <a:srgbClr val="E2E8F0"/>
                </a:solidFill>
                <a:latin typeface="Aptos"/>
              </a:defRPr>
            </a:pPr>
            <a:r>
              <a:t>Identify the major entities involved in software management.</a:t>
            </a:r>
          </a:p>
          <a:p>
            <a:pPr marL="285750" indent="-285750">
              <a:spcAft>
                <a:spcPts val="120"/>
              </a:spcAft>
              <a:buFont typeface="Wingdings" panose="05000000000000000000" charset="0"/>
              <a:buChar char="ü"/>
              <a:defRPr sz="1600">
                <a:solidFill>
                  <a:srgbClr val="E2E8F0"/>
                </a:solidFill>
                <a:latin typeface="Aptos"/>
              </a:defRPr>
            </a:pPr>
          </a:p>
          <a:p>
            <a:pPr marL="285750" indent="-285750">
              <a:spcAft>
                <a:spcPts val="120"/>
              </a:spcAft>
              <a:buFont typeface="Wingdings" panose="05000000000000000000" charset="0"/>
              <a:buChar char="ü"/>
              <a:defRPr sz="1600">
                <a:solidFill>
                  <a:srgbClr val="E2E8F0"/>
                </a:solidFill>
                <a:latin typeface="Aptos"/>
              </a:defRPr>
            </a:pPr>
            <a:r>
              <a:t>Identify suitable attributes for every entity.</a:t>
            </a:r>
          </a:p>
          <a:p>
            <a:pPr marL="285750" indent="-285750">
              <a:spcAft>
                <a:spcPts val="120"/>
              </a:spcAft>
              <a:buFont typeface="Wingdings" panose="05000000000000000000" charset="0"/>
              <a:buChar char="ü"/>
              <a:defRPr sz="1600">
                <a:solidFill>
                  <a:srgbClr val="E2E8F0"/>
                </a:solidFill>
                <a:latin typeface="Aptos"/>
              </a:defRPr>
            </a:pPr>
          </a:p>
          <a:p>
            <a:pPr marL="285750" indent="-285750">
              <a:spcAft>
                <a:spcPts val="120"/>
              </a:spcAft>
              <a:buFont typeface="Wingdings" panose="05000000000000000000" charset="0"/>
              <a:buChar char="ü"/>
              <a:defRPr sz="1600">
                <a:solidFill>
                  <a:srgbClr val="E2E8F0"/>
                </a:solidFill>
                <a:latin typeface="Aptos"/>
              </a:defRPr>
            </a:pPr>
            <a:r>
              <a:t>Establish relationships between software, licenses, users, departments, installations and maintenance.</a:t>
            </a:r>
          </a:p>
          <a:p>
            <a:pPr marL="285750" indent="-285750">
              <a:spcAft>
                <a:spcPts val="120"/>
              </a:spcAft>
              <a:buFont typeface="Wingdings" panose="05000000000000000000" charset="0"/>
              <a:buChar char="ü"/>
              <a:defRPr sz="1600">
                <a:solidFill>
                  <a:srgbClr val="E2E8F0"/>
                </a:solidFill>
                <a:latin typeface="Aptos"/>
              </a:defRPr>
            </a:pPr>
          </a:p>
          <a:p>
            <a:pPr marL="285750" indent="-285750">
              <a:spcAft>
                <a:spcPts val="120"/>
              </a:spcAft>
              <a:buFont typeface="Wingdings" panose="05000000000000000000" charset="0"/>
              <a:buChar char="ü"/>
              <a:defRPr sz="1600">
                <a:solidFill>
                  <a:srgbClr val="E2E8F0"/>
                </a:solidFill>
                <a:latin typeface="Aptos"/>
              </a:defRPr>
            </a:pPr>
            <a:r>
              <a:t>Design a clear Entity–Relationship (ER) diagram.</a:t>
            </a:r>
          </a:p>
          <a:p>
            <a:pPr marL="285750" indent="-285750">
              <a:spcAft>
                <a:spcPts val="120"/>
              </a:spcAft>
              <a:buFont typeface="Wingdings" panose="05000000000000000000" charset="0"/>
              <a:buChar char="ü"/>
              <a:defRPr sz="1600">
                <a:solidFill>
                  <a:srgbClr val="E2E8F0"/>
                </a:solidFill>
                <a:latin typeface="Aptos"/>
              </a:defRPr>
            </a:pPr>
          </a:p>
          <a:p>
            <a:pPr marL="285750" indent="-285750">
              <a:spcAft>
                <a:spcPts val="120"/>
              </a:spcAft>
              <a:buFont typeface="Wingdings" panose="05000000000000000000" charset="0"/>
              <a:buChar char="ü"/>
              <a:defRPr sz="1600">
                <a:solidFill>
                  <a:srgbClr val="E2E8F0"/>
                </a:solidFill>
                <a:latin typeface="Aptos"/>
              </a:defRPr>
            </a:pPr>
            <a:r>
              <a:t>Convert the ER model into a relational database schema.</a:t>
            </a:r>
          </a:p>
          <a:p>
            <a:pPr marL="285750" indent="-285750">
              <a:spcAft>
                <a:spcPts val="120"/>
              </a:spcAft>
              <a:buFont typeface="Wingdings" panose="05000000000000000000" charset="0"/>
              <a:buChar char="ü"/>
              <a:defRPr sz="1600">
                <a:solidFill>
                  <a:srgbClr val="E2E8F0"/>
                </a:solidFill>
                <a:latin typeface="Aptos"/>
              </a:defRPr>
            </a:pPr>
          </a:p>
          <a:p>
            <a:pPr marL="285750" indent="-285750">
              <a:spcAft>
                <a:spcPts val="120"/>
              </a:spcAft>
              <a:buFont typeface="Wingdings" panose="05000000000000000000" charset="0"/>
              <a:buChar char="ü"/>
              <a:defRPr sz="1600">
                <a:solidFill>
                  <a:srgbClr val="E2E8F0"/>
                </a:solidFill>
                <a:latin typeface="Aptos"/>
              </a:defRPr>
            </a:pPr>
            <a:r>
              <a:t>Identify Primary Keys and Foreign Keys.</a:t>
            </a:r>
          </a:p>
          <a:p>
            <a:pPr marL="285750" indent="-285750">
              <a:spcAft>
                <a:spcPts val="120"/>
              </a:spcAft>
              <a:buFont typeface="Wingdings" panose="05000000000000000000" charset="0"/>
              <a:buChar char="ü"/>
              <a:defRPr sz="1600">
                <a:solidFill>
                  <a:srgbClr val="E2E8F0"/>
                </a:solidFill>
                <a:latin typeface="Aptos"/>
              </a:defRPr>
            </a:pPr>
          </a:p>
          <a:p>
            <a:pPr marL="285750" indent="-285750">
              <a:spcAft>
                <a:spcPts val="120"/>
              </a:spcAft>
              <a:buFont typeface="Wingdings" panose="05000000000000000000" charset="0"/>
              <a:buChar char="ü"/>
              <a:defRPr sz="1600">
                <a:solidFill>
                  <a:srgbClr val="E2E8F0"/>
                </a:solidFill>
                <a:latin typeface="Aptos"/>
              </a:defRPr>
            </a:pPr>
            <a:r>
              <a:t>Support efficient tracking of software usage and maintenance.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1737360"/>
            <a:ext cx="109728" cy="10972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8368" y="2331720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" y="2926080"/>
            <a:ext cx="109728" cy="10972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8" y="3520440"/>
            <a:ext cx="109728" cy="10972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8368" y="4114800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8368" y="4709160"/>
            <a:ext cx="109728" cy="10972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8368" y="5303520"/>
            <a:ext cx="109728" cy="10972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6400800" cy="2216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94A3B8"/>
                </a:solidFill>
                <a:latin typeface="Aptos"/>
              </a:rPr>
              <a:t>SOFTWARE MANAGEMENT SYSTEM  •  D</a:t>
            </a:r>
            <a:r>
              <a:rPr lang="en-US" sz="850" b="1">
                <a:solidFill>
                  <a:srgbClr val="94A3B8"/>
                </a:solidFill>
                <a:latin typeface="Aptos"/>
              </a:rPr>
              <a:t>BMS</a:t>
            </a:r>
            <a:endParaRPr lang="en-US" sz="850" b="1">
              <a:solidFill>
                <a:srgbClr val="94A3B8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5</a:t>
            </a:r>
            <a:endParaRPr sz="900" b="1">
              <a:solidFill>
                <a:srgbClr val="94A3B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  <a:latin typeface="Aptos"/>
              </a:rPr>
              <a:t>06</a:t>
            </a:r>
            <a:endParaRPr sz="1300" b="1">
              <a:solidFill>
                <a:srgbClr val="06B6D4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34440" y="329184"/>
            <a:ext cx="9966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System Scope</a:t>
            </a:r>
            <a:endParaRPr sz="28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52728" y="941832"/>
            <a:ext cx="9784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Six connected areas form the database</a:t>
            </a:r>
            <a:endParaRPr sz="1150" b="0">
              <a:solidFill>
                <a:srgbClr val="94A3B8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228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429000" cy="1874519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64008" cy="1874519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01368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USER MANAGEMENT</a:t>
            </a:r>
            <a:endParaRPr sz="14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0120" y="2258568"/>
            <a:ext cx="30175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Aptos"/>
              </a:rPr>
              <a:t>User_ID, name, email, role and department association.</a:t>
            </a:r>
            <a:endParaRPr sz="1050" b="0">
              <a:solidFill>
                <a:srgbClr val="E2E8F0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480559" y="1600200"/>
            <a:ext cx="3429000" cy="1874519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1600200"/>
            <a:ext cx="64008" cy="187451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59" y="1801368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DEPARTMENT</a:t>
            </a:r>
            <a:endParaRPr sz="14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09159" y="2258568"/>
            <a:ext cx="30175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Aptos"/>
              </a:rPr>
              <a:t>Department details and software ownership.</a:t>
            </a:r>
            <a:endParaRPr sz="1050" b="0">
              <a:solidFill>
                <a:srgbClr val="E2E8F0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229600" y="1600200"/>
            <a:ext cx="3429000" cy="1874519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600200"/>
            <a:ext cx="64008" cy="1874519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801368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SOFTWARE</a:t>
            </a:r>
            <a:endParaRPr sz="14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458200" y="2258568"/>
            <a:ext cx="30175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Aptos"/>
              </a:rPr>
              <a:t>Software name, version, vendor and category.</a:t>
            </a:r>
            <a:endParaRPr sz="1050" b="0">
              <a:solidFill>
                <a:srgbClr val="E2E8F0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31520" y="3840480"/>
            <a:ext cx="3429000" cy="1874519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840480"/>
            <a:ext cx="64008" cy="1874519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041648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LICENSE</a:t>
            </a:r>
            <a:endParaRPr sz="14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60120" y="4498848"/>
            <a:ext cx="30175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Aptos"/>
              </a:rPr>
              <a:t>License type, expiry date and quantity.</a:t>
            </a:r>
            <a:endParaRPr sz="1050" b="0">
              <a:solidFill>
                <a:srgbClr val="E2E8F0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480559" y="3840480"/>
            <a:ext cx="3429000" cy="1874519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59" y="3840480"/>
            <a:ext cx="64008" cy="187451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59" y="4041648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INSTALLATION</a:t>
            </a:r>
            <a:endParaRPr sz="14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709159" y="4498848"/>
            <a:ext cx="30175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Aptos"/>
              </a:rPr>
              <a:t>Software assigned to users with installation date and status.</a:t>
            </a:r>
            <a:endParaRPr sz="1050" b="0">
              <a:solidFill>
                <a:srgbClr val="E2E8F0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229600" y="3840480"/>
            <a:ext cx="3429000" cy="1874519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840480"/>
            <a:ext cx="64008" cy="1874519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4041648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MAINTENANCE</a:t>
            </a:r>
            <a:endParaRPr sz="14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458200" y="4498848"/>
            <a:ext cx="30175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Aptos"/>
              </a:rPr>
              <a:t>Maintenance date, type and remarks for software.</a:t>
            </a:r>
            <a:endParaRPr sz="1050" b="0">
              <a:solidFill>
                <a:srgbClr val="E2E8F0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6400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94A3B8"/>
                </a:solidFill>
                <a:latin typeface="Aptos"/>
              </a:rPr>
              <a:t>SOFTWARE MANAGEMENT SYSTEM  •  DAE</a:t>
            </a:r>
            <a:endParaRPr sz="850" b="1">
              <a:solidFill>
                <a:srgbClr val="94A3B8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6</a:t>
            </a:r>
            <a:endParaRPr sz="900" b="1">
              <a:solidFill>
                <a:srgbClr val="94A3B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  <a:latin typeface="Aptos"/>
              </a:rPr>
              <a:t>07</a:t>
            </a:r>
            <a:endParaRPr sz="1300" b="1">
              <a:solidFill>
                <a:srgbClr val="06B6D4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34440" y="329184"/>
            <a:ext cx="9966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Entities &amp; Attributes</a:t>
            </a:r>
            <a:endParaRPr sz="28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52728" y="941832"/>
            <a:ext cx="9784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The core data objects and their key fields</a:t>
            </a:r>
            <a:endParaRPr sz="1150" b="0">
              <a:solidFill>
                <a:srgbClr val="94A3B8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228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72768"/>
            <a:ext cx="3493008" cy="193852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72768"/>
            <a:ext cx="64008" cy="19385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73936"/>
            <a:ext cx="3081527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USER</a:t>
            </a:r>
            <a:endParaRPr sz="14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2231136"/>
            <a:ext cx="3081527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Aptos"/>
              </a:rPr>
              <a:t>PK User_ID
User_Name • Email • Role
FK Department_ID</a:t>
            </a:r>
            <a:endParaRPr sz="1050" b="0">
              <a:solidFill>
                <a:srgbClr val="E2E8F0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462272" y="1572768"/>
            <a:ext cx="3493008" cy="193852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62272" y="1572768"/>
            <a:ext cx="64008" cy="19385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1773936"/>
            <a:ext cx="3081527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DEPARTMENT</a:t>
            </a:r>
            <a:endParaRPr sz="14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90872" y="2231136"/>
            <a:ext cx="3081527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Aptos"/>
              </a:rPr>
              <a:t>PK Department_ID
Department_Name • Location
Manager</a:t>
            </a:r>
            <a:endParaRPr sz="1050" b="0">
              <a:solidFill>
                <a:srgbClr val="E2E8F0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284463" y="1572768"/>
            <a:ext cx="3493008" cy="193852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84463" y="1572768"/>
            <a:ext cx="64008" cy="19385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13063" y="1773936"/>
            <a:ext cx="3081527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SOFTWARE</a:t>
            </a:r>
            <a:endParaRPr sz="14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513063" y="2231136"/>
            <a:ext cx="3081527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Aptos"/>
              </a:rPr>
              <a:t>PK Software_ID
Software_Name • Version
Vendor • Category</a:t>
            </a:r>
            <a:endParaRPr sz="1050" b="0">
              <a:solidFill>
                <a:srgbClr val="E2E8F0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0080" y="3858768"/>
            <a:ext cx="3493008" cy="193852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858768"/>
            <a:ext cx="64008" cy="19385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059935"/>
            <a:ext cx="3081527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LICENSE</a:t>
            </a:r>
            <a:endParaRPr sz="14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68680" y="4517136"/>
            <a:ext cx="3081527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Aptos"/>
              </a:rPr>
              <a:t>PK License_ID
FK Software_ID
Type • Expiry_Date • Quantity</a:t>
            </a:r>
            <a:endParaRPr sz="1050" b="0">
              <a:solidFill>
                <a:srgbClr val="E2E8F0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462272" y="3858768"/>
            <a:ext cx="3493008" cy="193852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62272" y="3858768"/>
            <a:ext cx="64008" cy="19385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90872" y="4059935"/>
            <a:ext cx="3081527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INSTALLATION</a:t>
            </a:r>
            <a:endParaRPr sz="14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690872" y="4517136"/>
            <a:ext cx="3081527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Aptos"/>
              </a:rPr>
              <a:t>PK Installation_ID
FK Software_ID • FK User_ID
Install_Date • Status</a:t>
            </a:r>
            <a:endParaRPr sz="1050" b="0">
              <a:solidFill>
                <a:srgbClr val="E2E8F0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284463" y="3858768"/>
            <a:ext cx="3493008" cy="193852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84463" y="3858768"/>
            <a:ext cx="64008" cy="19385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13063" y="4059935"/>
            <a:ext cx="3081527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MAINTENANCE</a:t>
            </a:r>
            <a:endParaRPr sz="14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513063" y="4517136"/>
            <a:ext cx="3081527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Aptos"/>
              </a:rPr>
              <a:t>PK Maintenance_ID
FK Software_ID
Date • Type • Remarks</a:t>
            </a:r>
            <a:endParaRPr sz="1050" b="0">
              <a:solidFill>
                <a:srgbClr val="E2E8F0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6400800" cy="2216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94A3B8"/>
                </a:solidFill>
                <a:latin typeface="Aptos"/>
              </a:rPr>
              <a:t>SOFTWARE MANAGEMENT SYSTEM  •  D</a:t>
            </a:r>
            <a:r>
              <a:rPr lang="en-US" sz="850" b="1">
                <a:solidFill>
                  <a:srgbClr val="94A3B8"/>
                </a:solidFill>
                <a:latin typeface="Aptos"/>
              </a:rPr>
              <a:t>BMS</a:t>
            </a:r>
            <a:endParaRPr lang="en-US" sz="850" b="1">
              <a:solidFill>
                <a:srgbClr val="94A3B8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7</a:t>
            </a:r>
            <a:endParaRPr sz="900" b="1">
              <a:solidFill>
                <a:srgbClr val="94A3B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  <a:latin typeface="Aptos"/>
              </a:rPr>
              <a:t>08</a:t>
            </a:r>
            <a:endParaRPr sz="1300" b="1">
              <a:solidFill>
                <a:srgbClr val="06B6D4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34440" y="329184"/>
            <a:ext cx="9966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Relationships &amp; Cardinality</a:t>
            </a:r>
            <a:endParaRPr sz="28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52728" y="941832"/>
            <a:ext cx="9784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How the entities connect</a:t>
            </a:r>
            <a:endParaRPr sz="1150" b="0">
              <a:solidFill>
                <a:srgbClr val="94A3B8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228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2103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F8FAFC"/>
                </a:solidFill>
                <a:latin typeface="Aptos"/>
              </a:rPr>
              <a:t>Department</a:t>
            </a:r>
            <a:endParaRPr sz="13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63240" y="1554480"/>
            <a:ext cx="1097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6B6D4"/>
                </a:solidFill>
                <a:latin typeface="Aptos"/>
              </a:rPr>
              <a:t>1 : M</a:t>
            </a:r>
            <a:endParaRPr sz="1200" b="1">
              <a:solidFill>
                <a:srgbClr val="06B6D4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43400" y="1554480"/>
            <a:ext cx="2148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User</a:t>
            </a:r>
            <a:endParaRPr sz="13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20840" y="1554480"/>
            <a:ext cx="4480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Aptos"/>
              </a:rPr>
              <a:t>One department can have many users.</a:t>
            </a:r>
            <a:endParaRPr sz="1050" b="0">
              <a:solidFill>
                <a:srgbClr val="E2E8F0"/>
              </a:solidFill>
              <a:latin typeface="Apto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0287000" cy="1097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304288"/>
            <a:ext cx="2103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F8FAFC"/>
                </a:solidFill>
                <a:latin typeface="Aptos"/>
              </a:rPr>
              <a:t>Department</a:t>
            </a:r>
            <a:endParaRPr sz="13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63240" y="2304288"/>
            <a:ext cx="1097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6B6D4"/>
                </a:solidFill>
                <a:latin typeface="Aptos"/>
              </a:rPr>
              <a:t>1 : M</a:t>
            </a:r>
            <a:endParaRPr sz="1200" b="1">
              <a:solidFill>
                <a:srgbClr val="06B6D4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43400" y="2304288"/>
            <a:ext cx="2148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Software</a:t>
            </a:r>
            <a:endParaRPr sz="13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720840" y="2304288"/>
            <a:ext cx="4480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Aptos"/>
              </a:rPr>
              <a:t>One department can manage many software records.</a:t>
            </a:r>
            <a:endParaRPr sz="1050" b="0">
              <a:solidFill>
                <a:srgbClr val="E2E8F0"/>
              </a:solidFill>
              <a:latin typeface="Apto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2960" y="2807208"/>
            <a:ext cx="10287000" cy="1097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054096"/>
            <a:ext cx="2103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F8FAFC"/>
                </a:solidFill>
                <a:latin typeface="Aptos"/>
              </a:rPr>
              <a:t>Software</a:t>
            </a:r>
            <a:endParaRPr sz="13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063240" y="3054096"/>
            <a:ext cx="1097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6B6D4"/>
                </a:solidFill>
                <a:latin typeface="Aptos"/>
              </a:rPr>
              <a:t>1 : M</a:t>
            </a:r>
            <a:endParaRPr sz="1200" b="1">
              <a:solidFill>
                <a:srgbClr val="06B6D4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43400" y="3054096"/>
            <a:ext cx="2148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License</a:t>
            </a:r>
            <a:endParaRPr sz="13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720840" y="3054096"/>
            <a:ext cx="4480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Aptos"/>
              </a:rPr>
              <a:t>One software product can have multiple licenses.</a:t>
            </a:r>
            <a:endParaRPr sz="1050" b="0">
              <a:solidFill>
                <a:srgbClr val="E2E8F0"/>
              </a:solidFill>
              <a:latin typeface="Apto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22960" y="3557015"/>
            <a:ext cx="10287000" cy="1097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803904"/>
            <a:ext cx="2103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F8FAFC"/>
                </a:solidFill>
                <a:latin typeface="Aptos"/>
              </a:rPr>
              <a:t>Software</a:t>
            </a:r>
            <a:endParaRPr sz="13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063240" y="3803904"/>
            <a:ext cx="1097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6B6D4"/>
                </a:solidFill>
                <a:latin typeface="Aptos"/>
              </a:rPr>
              <a:t>1 : M</a:t>
            </a:r>
            <a:endParaRPr sz="1200" b="1">
              <a:solidFill>
                <a:srgbClr val="06B6D4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343400" y="3803904"/>
            <a:ext cx="2148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Installation</a:t>
            </a:r>
            <a:endParaRPr sz="13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720840" y="3803904"/>
            <a:ext cx="4480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Aptos"/>
              </a:rPr>
              <a:t>One software product can have many installations.</a:t>
            </a:r>
            <a:endParaRPr sz="1050" b="0">
              <a:solidFill>
                <a:srgbClr val="E2E8F0"/>
              </a:solidFill>
              <a:latin typeface="Apto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22960" y="4306824"/>
            <a:ext cx="10287000" cy="1097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553712"/>
            <a:ext cx="2103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F8FAFC"/>
                </a:solidFill>
                <a:latin typeface="Aptos"/>
              </a:rPr>
              <a:t>User</a:t>
            </a:r>
            <a:endParaRPr sz="13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063240" y="4553712"/>
            <a:ext cx="1097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6B6D4"/>
                </a:solidFill>
                <a:latin typeface="Aptos"/>
              </a:rPr>
              <a:t>1 : M</a:t>
            </a:r>
            <a:endParaRPr sz="1200" b="1">
              <a:solidFill>
                <a:srgbClr val="06B6D4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343400" y="4553712"/>
            <a:ext cx="2148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Installation</a:t>
            </a:r>
            <a:endParaRPr sz="13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720840" y="4553712"/>
            <a:ext cx="4480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Aptos"/>
              </a:rPr>
              <a:t>One user can have many software installations.</a:t>
            </a:r>
            <a:endParaRPr sz="1050" b="0">
              <a:solidFill>
                <a:srgbClr val="E2E8F0"/>
              </a:solidFill>
              <a:latin typeface="Apto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822960" y="5056631"/>
            <a:ext cx="10287000" cy="1097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303520"/>
            <a:ext cx="2103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F8FAFC"/>
                </a:solidFill>
                <a:latin typeface="Aptos"/>
              </a:rPr>
              <a:t>Software</a:t>
            </a:r>
            <a:endParaRPr sz="13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063240" y="5303520"/>
            <a:ext cx="1097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6B6D4"/>
                </a:solidFill>
                <a:latin typeface="Aptos"/>
              </a:rPr>
              <a:t>1 : M</a:t>
            </a:r>
            <a:endParaRPr sz="1200" b="1">
              <a:solidFill>
                <a:srgbClr val="06B6D4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343400" y="5303520"/>
            <a:ext cx="2148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Maintenance</a:t>
            </a:r>
            <a:endParaRPr sz="13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720840" y="5303520"/>
            <a:ext cx="4480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Aptos"/>
              </a:rPr>
              <a:t>One software product can have many maintenance records.</a:t>
            </a:r>
            <a:endParaRPr sz="1050" b="0">
              <a:solidFill>
                <a:srgbClr val="E2E8F0"/>
              </a:solidFill>
              <a:latin typeface="Apto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22960" y="5806440"/>
            <a:ext cx="10287000" cy="1097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6510528"/>
            <a:ext cx="6400800" cy="2216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94A3B8"/>
                </a:solidFill>
                <a:latin typeface="Aptos"/>
              </a:rPr>
              <a:t>SOFTWARE MANAGEMENT SYSTEM  •  D</a:t>
            </a:r>
            <a:r>
              <a:rPr lang="en-US" sz="850" b="1">
                <a:solidFill>
                  <a:srgbClr val="94A3B8"/>
                </a:solidFill>
                <a:latin typeface="Aptos"/>
              </a:rPr>
              <a:t>BMS</a:t>
            </a:r>
            <a:endParaRPr lang="en-US" sz="850" b="1">
              <a:solidFill>
                <a:srgbClr val="94A3B8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8</a:t>
            </a:r>
            <a:endParaRPr sz="900" b="1">
              <a:solidFill>
                <a:srgbClr val="94A3B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  <a:latin typeface="Aptos"/>
              </a:rPr>
              <a:t>09</a:t>
            </a:r>
            <a:endParaRPr sz="1300" b="1">
              <a:solidFill>
                <a:srgbClr val="06B6D4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34440" y="329184"/>
            <a:ext cx="9966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Relational Database Schema</a:t>
            </a:r>
            <a:endParaRPr sz="28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52728" y="941832"/>
            <a:ext cx="9784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Tables, keys and relationships</a:t>
            </a:r>
            <a:endParaRPr sz="1150" b="0">
              <a:solidFill>
                <a:srgbClr val="94A3B8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228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82880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627631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USER</a:t>
            </a:r>
            <a:endParaRPr sz="11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88920" y="1600200"/>
            <a:ext cx="8503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Aptos"/>
              </a:rPr>
              <a:t>User_ID (PK) | User_Name | Email | Role | Department_ID (FK)</a:t>
            </a:r>
            <a:endParaRPr sz="1050" b="0">
              <a:solidFill>
                <a:srgbClr val="E2E8F0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31520" y="2267712"/>
            <a:ext cx="1828800" cy="5029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386584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DEPARTMENT</a:t>
            </a:r>
            <a:endParaRPr sz="11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88920" y="2359152"/>
            <a:ext cx="8503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Aptos"/>
              </a:rPr>
              <a:t>Department_ID (PK) | Department_Name | Location | Manager</a:t>
            </a:r>
            <a:endParaRPr sz="1050" b="0">
              <a:solidFill>
                <a:srgbClr val="E2E8F0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31520" y="3026663"/>
            <a:ext cx="1828800" cy="5029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145535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SOFTWARE</a:t>
            </a:r>
            <a:endParaRPr sz="11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88920" y="3118103"/>
            <a:ext cx="8503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Aptos"/>
              </a:rPr>
              <a:t>Software_ID (PK) | Software_Name | Version | Vendor | Category</a:t>
            </a:r>
            <a:endParaRPr sz="1050" b="0">
              <a:solidFill>
                <a:srgbClr val="E2E8F0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31520" y="3785615"/>
            <a:ext cx="182880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904487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LICENSE</a:t>
            </a:r>
            <a:endParaRPr sz="11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788920" y="3877055"/>
            <a:ext cx="8503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Aptos"/>
              </a:rPr>
              <a:t>License_ID (PK) | Software_ID (FK) | License_Type | Expiry_Date | Quantity</a:t>
            </a:r>
            <a:endParaRPr sz="1050" b="0">
              <a:solidFill>
                <a:srgbClr val="E2E8F0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31520" y="4544568"/>
            <a:ext cx="1828800" cy="5029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4663440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INSTALLATION</a:t>
            </a:r>
            <a:endParaRPr sz="11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788920" y="4636007"/>
            <a:ext cx="8503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Aptos"/>
              </a:rPr>
              <a:t>Installation_ID (PK) | Software_ID (FK) | User_ID (FK) | Install_Date | Status</a:t>
            </a:r>
            <a:endParaRPr sz="1050" b="0">
              <a:solidFill>
                <a:srgbClr val="E2E8F0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31520" y="5303519"/>
            <a:ext cx="1828800" cy="5029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5422391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MAINTENANCE</a:t>
            </a:r>
            <a:endParaRPr sz="11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788920" y="5394959"/>
            <a:ext cx="8503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Aptos"/>
              </a:rPr>
              <a:t>Maintenance_ID (PK) | Software_ID (FK) | Maintenance_Date | Type | Remarks</a:t>
            </a:r>
            <a:endParaRPr sz="1050" b="0">
              <a:solidFill>
                <a:srgbClr val="E2E8F0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6400800" cy="2216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94A3B8"/>
                </a:solidFill>
                <a:latin typeface="Aptos"/>
              </a:rPr>
              <a:t>SOFTWARE MANAGEMENT SYSTEM  •  D</a:t>
            </a:r>
            <a:r>
              <a:rPr lang="en-US" sz="850" b="1">
                <a:solidFill>
                  <a:srgbClr val="94A3B8"/>
                </a:solidFill>
                <a:latin typeface="Aptos"/>
              </a:rPr>
              <a:t>BMS</a:t>
            </a:r>
            <a:endParaRPr lang="en-US" sz="850" b="1">
              <a:solidFill>
                <a:srgbClr val="94A3B8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9</a:t>
            </a:r>
            <a:endParaRPr sz="900" b="1">
              <a:solidFill>
                <a:srgbClr val="94A3B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  <a:latin typeface="Aptos"/>
              </a:rPr>
              <a:t>10</a:t>
            </a:r>
            <a:endParaRPr sz="1300" b="1">
              <a:solidFill>
                <a:srgbClr val="06B6D4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34440" y="329184"/>
            <a:ext cx="9966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ER Diagram</a:t>
            </a:r>
            <a:endParaRPr sz="28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52728" y="941832"/>
            <a:ext cx="9784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Conceptual view of the database</a:t>
            </a:r>
            <a:endParaRPr sz="1150" b="0">
              <a:solidFill>
                <a:srgbClr val="94A3B8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6400800" cy="2216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94A3B8"/>
                </a:solidFill>
                <a:latin typeface="Aptos"/>
              </a:rPr>
              <a:t>SOFTWARE MANAGEMENT SYSTEM  •  D</a:t>
            </a:r>
            <a:r>
              <a:rPr lang="en-US" sz="850" b="1">
                <a:solidFill>
                  <a:srgbClr val="94A3B8"/>
                </a:solidFill>
                <a:latin typeface="Aptos"/>
              </a:rPr>
              <a:t>BMS</a:t>
            </a:r>
            <a:endParaRPr lang="en-US" sz="850" b="1">
              <a:solidFill>
                <a:srgbClr val="94A3B8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10</a:t>
            </a:r>
            <a:endParaRPr sz="900" b="1">
              <a:solidFill>
                <a:srgbClr val="94A3B8"/>
              </a:solidFill>
              <a:latin typeface="Aptos"/>
            </a:endParaRPr>
          </a:p>
        </p:txBody>
      </p:sp>
      <p:pic>
        <p:nvPicPr>
          <p:cNvPr id="33" name="Picture 32" descr="Screenshot 2026-10-05 1532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655" y="1344295"/>
            <a:ext cx="10139045" cy="52006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  <a:latin typeface="Aptos"/>
              </a:rPr>
              <a:t>11</a:t>
            </a:r>
            <a:endParaRPr sz="1300" b="1">
              <a:solidFill>
                <a:srgbClr val="06B6D4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34440" y="329184"/>
            <a:ext cx="9966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Team Responsibilities</a:t>
            </a:r>
            <a:endParaRPr sz="28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52728" y="941832"/>
            <a:ext cx="9784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Division of work for the project</a:t>
            </a:r>
            <a:endParaRPr sz="1150" b="0">
              <a:solidFill>
                <a:srgbClr val="94A3B8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353312"/>
            <a:ext cx="10972800" cy="228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554480"/>
            <a:ext cx="658368" cy="65836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28216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1</a:t>
            </a:r>
            <a:endParaRPr sz="11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91640" y="158191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M.SRUJANA</a:t>
            </a:r>
            <a:endParaRPr sz="14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251960" y="1581912"/>
            <a:ext cx="6583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E2E8F0"/>
                </a:solidFill>
                <a:latin typeface="Aptos"/>
              </a:rPr>
              <a:t>Introduction • Problem statement • Objectives • Scope • Documentation</a:t>
            </a:r>
            <a:endParaRPr sz="1150" b="0">
              <a:solidFill>
                <a:srgbClr val="E2E8F0"/>
              </a:solidFill>
              <a:latin typeface="Aptos"/>
            </a:endParaRPr>
          </a:p>
        </p:txBody>
      </p:sp>
      <p:sp>
        <p:nvSpPr>
          <p:cNvPr id="10" name="Oval 9"/>
          <p:cNvSpPr/>
          <p:nvPr/>
        </p:nvSpPr>
        <p:spPr>
          <a:xfrm>
            <a:off x="777240" y="2633472"/>
            <a:ext cx="658368" cy="6583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807208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2</a:t>
            </a:r>
            <a:endParaRPr sz="11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91640" y="2660903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S.BHAVYA TULASI</a:t>
            </a:r>
            <a:endParaRPr sz="14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51960" y="2660903"/>
            <a:ext cx="6583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E2E8F0"/>
                </a:solidFill>
                <a:latin typeface="Aptos"/>
              </a:rPr>
              <a:t>Entities • Attributes • Database structure</a:t>
            </a:r>
            <a:endParaRPr sz="1150" b="0">
              <a:solidFill>
                <a:srgbClr val="E2E8F0"/>
              </a:solidFill>
              <a:latin typeface="Aptos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777240" y="3712463"/>
            <a:ext cx="658368" cy="65836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886200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3</a:t>
            </a:r>
            <a:endParaRPr sz="11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91640" y="3739896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T.TEJA SRI</a:t>
            </a:r>
            <a:endParaRPr sz="14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251960" y="3739896"/>
            <a:ext cx="6583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E2E8F0"/>
                </a:solidFill>
                <a:latin typeface="Aptos"/>
              </a:rPr>
              <a:t>Relationships • Cardinality • Relational schema</a:t>
            </a:r>
            <a:endParaRPr sz="1150" b="0">
              <a:solidFill>
                <a:srgbClr val="E2E8F0"/>
              </a:solidFill>
              <a:latin typeface="Aptos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777240" y="4791456"/>
            <a:ext cx="658368" cy="65836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96519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4</a:t>
            </a:r>
            <a:endParaRPr sz="11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691640" y="481888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SANJANA</a:t>
            </a:r>
            <a:endParaRPr sz="14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251960" y="4818888"/>
            <a:ext cx="6583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E2E8F0"/>
                </a:solidFill>
                <a:latin typeface="Aptos"/>
              </a:rPr>
              <a:t>ER diagram • Review preparation • Presentation support</a:t>
            </a:r>
            <a:endParaRPr sz="1150" b="0">
              <a:solidFill>
                <a:srgbClr val="E2E8F0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6400800" cy="2216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94A3B8"/>
                </a:solidFill>
                <a:latin typeface="Aptos"/>
              </a:rPr>
              <a:t>SOFTWARE MANAGEMENT SYSTEM  •  </a:t>
            </a:r>
            <a:r>
              <a:rPr lang="en-US" sz="850" b="1">
                <a:solidFill>
                  <a:srgbClr val="94A3B8"/>
                </a:solidFill>
                <a:latin typeface="Aptos"/>
              </a:rPr>
              <a:t>DBMS</a:t>
            </a:r>
            <a:endParaRPr lang="en-US" sz="850" b="1">
              <a:solidFill>
                <a:srgbClr val="94A3B8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11</a:t>
            </a:r>
            <a:endParaRPr sz="900" b="1">
              <a:solidFill>
                <a:srgbClr val="94A3B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  <a:latin typeface="Aptos"/>
              </a:rPr>
              <a:t>12</a:t>
            </a:r>
            <a:endParaRPr sz="1300" b="1">
              <a:solidFill>
                <a:srgbClr val="06B6D4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34440" y="411480"/>
            <a:ext cx="5943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Conclusion</a:t>
            </a:r>
            <a:endParaRPr sz="30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34440" y="1024128"/>
            <a:ext cx="8961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tos"/>
              </a:rPr>
              <a:t>A structured database creates a clear foundation for software tracking.</a:t>
            </a:r>
            <a:endParaRPr sz="1200" b="0">
              <a:solidFill>
                <a:srgbClr val="94A3B8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5760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F8FAFC"/>
                </a:solidFill>
                <a:latin typeface="Aptos"/>
              </a:rPr>
              <a:t>ONE SYSTEM.
CLEAR DATA.
BETTER CONTROL.</a:t>
            </a:r>
            <a:endParaRPr sz="3100" b="1">
              <a:solidFill>
                <a:srgbClr val="F8FAFC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26150" y="1793240"/>
            <a:ext cx="5560695" cy="31254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spcAft>
                <a:spcPts val="120"/>
              </a:spcAft>
              <a:buFont typeface="Wingdings" panose="05000000000000000000" charset="0"/>
              <a:buChar char="ü"/>
              <a:defRPr sz="1400">
                <a:solidFill>
                  <a:srgbClr val="E2E8F0"/>
                </a:solidFill>
                <a:latin typeface="Aptos"/>
              </a:defRPr>
            </a:pPr>
            <a:r>
              <a:rPr sz="1600"/>
              <a:t>The project identifies six major entities.</a:t>
            </a:r>
            <a:endParaRPr sz="1600"/>
          </a:p>
          <a:p>
            <a:pPr marL="285750" indent="-285750">
              <a:spcAft>
                <a:spcPts val="120"/>
              </a:spcAft>
              <a:buFont typeface="Wingdings" panose="05000000000000000000" charset="0"/>
              <a:buChar char="ü"/>
              <a:defRPr sz="1400">
                <a:solidFill>
                  <a:srgbClr val="E2E8F0"/>
                </a:solidFill>
                <a:latin typeface="Aptos"/>
              </a:defRPr>
            </a:pPr>
            <a:endParaRPr sz="1600"/>
          </a:p>
          <a:p>
            <a:pPr marL="285750" indent="-285750">
              <a:spcAft>
                <a:spcPts val="120"/>
              </a:spcAft>
              <a:buFont typeface="Wingdings" panose="05000000000000000000" charset="0"/>
              <a:buChar char="ü"/>
              <a:defRPr sz="1400">
                <a:solidFill>
                  <a:srgbClr val="E2E8F0"/>
                </a:solidFill>
                <a:latin typeface="Aptos"/>
              </a:defRPr>
            </a:pPr>
            <a:r>
              <a:rPr sz="1600"/>
              <a:t>Primary Keys and Foreign Keys connect the data.</a:t>
            </a:r>
            <a:endParaRPr sz="1600"/>
          </a:p>
          <a:p>
            <a:pPr marL="285750" indent="-285750">
              <a:spcAft>
                <a:spcPts val="120"/>
              </a:spcAft>
              <a:buFont typeface="Wingdings" panose="05000000000000000000" charset="0"/>
              <a:buChar char="ü"/>
              <a:defRPr sz="1400">
                <a:solidFill>
                  <a:srgbClr val="E2E8F0"/>
                </a:solidFill>
                <a:latin typeface="Aptos"/>
              </a:defRPr>
            </a:pPr>
            <a:endParaRPr sz="1600"/>
          </a:p>
          <a:p>
            <a:pPr marL="285750" indent="-285750">
              <a:spcAft>
                <a:spcPts val="120"/>
              </a:spcAft>
              <a:buFont typeface="Wingdings" panose="05000000000000000000" charset="0"/>
              <a:buChar char="ü"/>
              <a:defRPr sz="1400">
                <a:solidFill>
                  <a:srgbClr val="E2E8F0"/>
                </a:solidFill>
                <a:latin typeface="Aptos"/>
              </a:defRPr>
            </a:pPr>
            <a:r>
              <a:rPr sz="1600"/>
              <a:t>Relationships and cardinalities define how records interact.</a:t>
            </a:r>
            <a:endParaRPr sz="1600"/>
          </a:p>
          <a:p>
            <a:pPr marL="285750" indent="-285750">
              <a:spcAft>
                <a:spcPts val="120"/>
              </a:spcAft>
              <a:buFont typeface="Wingdings" panose="05000000000000000000" charset="0"/>
              <a:buChar char="ü"/>
              <a:defRPr sz="1400">
                <a:solidFill>
                  <a:srgbClr val="E2E8F0"/>
                </a:solidFill>
                <a:latin typeface="Aptos"/>
              </a:defRPr>
            </a:pPr>
            <a:endParaRPr sz="1600"/>
          </a:p>
          <a:p>
            <a:pPr marL="285750" indent="-285750">
              <a:spcAft>
                <a:spcPts val="120"/>
              </a:spcAft>
              <a:buFont typeface="Wingdings" panose="05000000000000000000" charset="0"/>
              <a:buChar char="ü"/>
              <a:defRPr sz="1400">
                <a:solidFill>
                  <a:srgbClr val="E2E8F0"/>
                </a:solidFill>
                <a:latin typeface="Aptos"/>
              </a:defRPr>
            </a:pPr>
            <a:r>
              <a:rPr sz="1600"/>
              <a:t>The ER model and relational schema are ready for implementation.</a:t>
            </a:r>
            <a:endParaRPr sz="1600"/>
          </a:p>
        </p:txBody>
      </p:sp>
      <p:sp>
        <p:nvSpPr>
          <p:cNvPr id="7" name="Rounded Rectangle 6"/>
          <p:cNvSpPr/>
          <p:nvPr/>
        </p:nvSpPr>
        <p:spPr>
          <a:xfrm>
            <a:off x="777240" y="4892040"/>
            <a:ext cx="3840480" cy="59436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074920"/>
            <a:ext cx="3474720" cy="245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Aptos"/>
              </a:rPr>
              <a:t>D</a:t>
            </a:r>
            <a:r>
              <a:rPr lang="en-US" sz="1000" b="1">
                <a:solidFill>
                  <a:srgbClr val="0F172A"/>
                </a:solidFill>
                <a:latin typeface="Aptos"/>
              </a:rPr>
              <a:t>BMS</a:t>
            </a:r>
            <a:r>
              <a:rPr sz="1000" b="1">
                <a:solidFill>
                  <a:srgbClr val="0F172A"/>
                </a:solidFill>
                <a:latin typeface="Aptos"/>
              </a:rPr>
              <a:t> • REVIEW</a:t>
            </a:r>
            <a:r>
              <a:rPr lang="en-US" sz="1000" b="1">
                <a:solidFill>
                  <a:srgbClr val="0F172A"/>
                </a:solidFill>
                <a:latin typeface="Aptos"/>
              </a:rPr>
              <a:t>F</a:t>
            </a:r>
            <a:r>
              <a:rPr sz="1000" b="1">
                <a:solidFill>
                  <a:srgbClr val="0F172A"/>
                </a:solidFill>
                <a:latin typeface="Aptos"/>
              </a:rPr>
              <a:t>–I • 2026–2027</a:t>
            </a:r>
            <a:endParaRPr sz="1000" b="1">
              <a:solidFill>
                <a:srgbClr val="0F172A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6501003"/>
            <a:ext cx="6400800" cy="2216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94A3B8"/>
                </a:solidFill>
                <a:latin typeface="Aptos"/>
              </a:rPr>
              <a:t>SOFTWARE MANAGEMENT SYSTEM  •  D</a:t>
            </a:r>
            <a:r>
              <a:rPr lang="en-US" sz="850" b="1">
                <a:solidFill>
                  <a:srgbClr val="94A3B8"/>
                </a:solidFill>
                <a:latin typeface="Aptos"/>
              </a:rPr>
              <a:t>BMS</a:t>
            </a:r>
            <a:endParaRPr lang="en-US" sz="850" b="1">
              <a:solidFill>
                <a:srgbClr val="94A3B8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12</a:t>
            </a:r>
            <a:endParaRPr sz="900" b="1">
              <a:solidFill>
                <a:srgbClr val="94A3B8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4969</Words>
  <Application>WPS Presentation</Application>
  <PresentationFormat>On-screen Show (4:3)</PresentationFormat>
  <Paragraphs>374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SimSun</vt:lpstr>
      <vt:lpstr>Wingdings</vt:lpstr>
      <vt:lpstr>Arial</vt:lpstr>
      <vt:lpstr>Aptos</vt:lpstr>
      <vt:lpstr>Segoe UI</vt:lpstr>
      <vt:lpstr>Wingdings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Srujana Chowdary</cp:lastModifiedBy>
  <cp:revision>5</cp:revision>
  <dcterms:created xsi:type="dcterms:W3CDTF">2013-01-27T09:14:00Z</dcterms:created>
  <dcterms:modified xsi:type="dcterms:W3CDTF">2026-10-05T10:04:49Z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450488AB29A34C969B59B5558ED1EE53_12</vt:lpwstr>
  </property>
  <property fmtid="{D5CDD505-2E9C-101B-9397-08002B2CF9AE}" pid="3" name="KSOProductBuildVer">
    <vt:lpwstr>1033-12.1.0.28485</vt:lpwstr>
  </property>
</Properties>
</file>